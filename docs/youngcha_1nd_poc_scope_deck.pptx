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9601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영차 1차 POC 범위 및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구현·검수 정의서 공유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76656" y="2359152"/>
            <a:ext cx="2011680" cy="310896"/>
          </a:xfrm>
          <a:prstGeom prst="rect">
            <a:avLst/>
          </a:prstGeom>
          <a:solidFill>
            <a:srgbClr val="EAF3FF"/>
          </a:solidFill>
          <a:ln>
            <a:solidFill>
              <a:srgbClr val="EAF3FF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대표님·상무님 보고용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76656" y="2871216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완성형 제품 개발이 아니라, 고객 앱과 관리자 화면이 하나의 베이 상태 데이터를 공유하는 핵심 가능성 검증입니다.</a:t>
            </a:r>
            <a:endParaRPr lang="en-US" sz="1420" dirty="0"/>
          </a:p>
        </p:txBody>
      </p:sp>
      <p:sp>
        <p:nvSpPr>
          <p:cNvPr id="5" name="Text 3"/>
          <p:cNvSpPr/>
          <p:nvPr/>
        </p:nvSpPr>
        <p:spPr>
          <a:xfrm>
            <a:off x="713232" y="4023360"/>
            <a:ext cx="987552" cy="749808"/>
          </a:xfrm>
          <a:prstGeom prst="rect">
            <a:avLst/>
          </a:prstGeom>
          <a:solidFill>
            <a:srgbClr val="FFFFFF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가능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 확인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42245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75569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975104" y="4023360"/>
            <a:ext cx="987552" cy="749808"/>
          </a:xfrm>
          <a:prstGeom prst="rect">
            <a:avLst/>
          </a:prstGeom>
          <a:solidFill>
            <a:srgbClr val="FFFFFF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결제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99232" y="42245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75569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236976" y="4023360"/>
            <a:ext cx="987552" cy="749808"/>
          </a:xfrm>
          <a:prstGeom prst="rect">
            <a:avLst/>
          </a:prstGeom>
          <a:solidFill>
            <a:srgbClr val="FFFFFF"/>
          </a:solidFill>
          <a:ln>
            <a:solidFill>
              <a:srgbClr val="EC891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세차 진행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61104" y="42245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75569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498848" y="4023360"/>
            <a:ext cx="987552" cy="749808"/>
          </a:xfrm>
          <a:prstGeom prst="rect">
            <a:avLst/>
          </a:prstGeom>
          <a:solidFill>
            <a:srgbClr val="FFFFFF"/>
          </a:solidFill>
          <a:ln>
            <a:solidFill>
              <a:srgbClr val="636CC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36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처리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22976" y="42245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75569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760720" y="4023360"/>
            <a:ext cx="987552" cy="749808"/>
          </a:xfrm>
          <a:prstGeom prst="rect">
            <a:avLst/>
          </a:prstGeom>
          <a:solidFill>
            <a:srgbClr val="FFFFFF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가능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285232"/>
            <a:ext cx="2971800" cy="329184"/>
          </a:xfrm>
          <a:prstGeom prst="rect">
            <a:avLst/>
          </a:prstGeom>
          <a:solidFill>
            <a:srgbClr val="FFF1F2"/>
          </a:solidFill>
          <a:ln>
            <a:solidFill>
              <a:srgbClr val="FFF1F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5C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기능은 서비스 정책상 미제공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60920" y="914400"/>
            <a:ext cx="4160520" cy="3657600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3556" tIns="3556" rIns="3556" bIns="3556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의사결정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1차 POC 범위는 베이 상태 동기화로 고정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앱·관리자 모두 6개 베이만 사용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결제는 실제 PG 없이 “완료 상태”만 생성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예약 상태·예약 UI·예약 API는 제거 대상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60920" y="4828032"/>
            <a:ext cx="416052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기준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결제 → 관리자 사용 중 반영 → 완료 → 양쪽 사용 가능 복귀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흐름이 개발자 조작 없이 3회 연속 동작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영차 1차 POC 범위 공유  |  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범위를 좁히는가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768096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데모는 화면 완성도가 있지만, POC는 “보이는 화면”보다 “하나의 데이터로 동작하는가”를 증명해야 합니다.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966960" y="384048"/>
            <a:ext cx="1691640" cy="237744"/>
          </a:xfrm>
          <a:prstGeom prst="rect">
            <a:avLst/>
          </a:prstGeom>
          <a:solidFill>
            <a:srgbClr val="EAF3FF"/>
          </a:solidFill>
          <a:ln>
            <a:solidFill>
              <a:srgbClr val="EAF3FF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YOUNGCHA POC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2468880" cy="475488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데모 상태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1463040"/>
            <a:ext cx="2468880" cy="475488"/>
          </a:xfrm>
          <a:prstGeom prst="rect">
            <a:avLst/>
          </a:prstGeom>
          <a:solidFill>
            <a:srgbClr val="0B50D0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POC에서 증명할 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006840" y="1463040"/>
            <a:ext cx="2468880" cy="475488"/>
          </a:xfrm>
          <a:prstGeom prst="rect">
            <a:avLst/>
          </a:prstGeom>
          <a:solidFill>
            <a:srgbClr val="06A85B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개발자에게 전달한 기준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11880" y="1490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75569"/>
                </a:solidFill>
              </a:rPr>
              <a:t>→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772400" y="1490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75569"/>
                </a:solidFill>
              </a:rPr>
              <a:t>→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685800" y="2176272"/>
            <a:ext cx="2468880" cy="233172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앱과 관리자 화면이 분리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연결 없음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목업·localStorage 중심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6베이 / 관리자 12베이 불일치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4846320" y="2176272"/>
            <a:ext cx="2468880" cy="233172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베이 데이터 사용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결제 후 사용 중 반영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후 사용 가능 복귀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새로고침·재접속 유지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9006840" y="2176272"/>
            <a:ext cx="2468880" cy="233172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7개로 개발 범위 고정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기능 완전 제거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모의·제외 범위 명시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체크리스트로 검수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85800" y="51023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설정 원칙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5504688"/>
            <a:ext cx="10789920" cy="566928"/>
          </a:xfrm>
          <a:prstGeom prst="rect">
            <a:avLst/>
          </a:prstGeom>
          <a:solidFill>
            <a:srgbClr val="EAF3FF"/>
          </a:solidFill>
          <a:ln>
            <a:solidFill>
              <a:srgbClr val="EAF3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완성형 기능을 많이 만드는 것이 아니라, 고객 시연에서 반드시 보여줄 하나의 흐름을 실제 데이터로 안정화합니다.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영차 1차 POC 범위 공유  | 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POC 구현 범위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768096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추측하지 않도록 실제 구현·간소 구현·화면 모의·제외 범위를 명확히 구분했습니다.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966960" y="384048"/>
            <a:ext cx="1691640" cy="237744"/>
          </a:xfrm>
          <a:prstGeom prst="rect">
            <a:avLst/>
          </a:prstGeom>
          <a:solidFill>
            <a:srgbClr val="EAF3FF"/>
          </a:solidFill>
          <a:ln>
            <a:solidFill>
              <a:srgbClr val="EAF3FF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YOUNGCHA POC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60520" y="1298448"/>
            <a:ext cx="3886200" cy="475488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구현 핵심 7개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60520" y="1938528"/>
            <a:ext cx="3886200" cy="2249424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540" tIns="2540" rIns="2540" bIns="2540" rtlCol="0" anchor="t">
            <a:normAutofit/>
          </a:bodyPr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베이 상태 서버·DB 저장/조회</a:t>
            </a:r>
            <a:endParaRPr lang="en-US" sz="1220" dirty="0"/>
          </a:p>
          <a:p>
            <a:pPr algn="l"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앱·관리자 동일 베이 데이터 사용</a:t>
            </a:r>
            <a:endParaRPr lang="en-US" sz="1220" dirty="0"/>
          </a:p>
          <a:p>
            <a:pPr algn="l"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앱 결제 완료 상태 생성</a:t>
            </a:r>
            <a:endParaRPr lang="en-US" sz="1220" dirty="0"/>
          </a:p>
          <a:p>
            <a:pPr algn="l"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세션 시작·종료 예정 시각 저장</a:t>
            </a:r>
            <a:endParaRPr lang="en-US" sz="1220" dirty="0"/>
          </a:p>
          <a:p>
            <a:pPr algn="l"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결제 완료 시 사용 중 변경</a:t>
            </a:r>
            <a:endParaRPr lang="en-US" sz="1220" dirty="0"/>
          </a:p>
          <a:p>
            <a:pPr algn="l"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완료 시 사용 가능 복귀</a:t>
            </a:r>
            <a:endParaRPr lang="en-US" sz="1220" dirty="0"/>
          </a:p>
          <a:p>
            <a:pPr algn="l"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중복 사용 방지 + 데이터 초기화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685800" y="1536192"/>
            <a:ext cx="2743200" cy="2377440"/>
          </a:xfrm>
          <a:prstGeom prst="rect">
            <a:avLst/>
          </a:prstGeom>
          <a:solidFill>
            <a:srgbClr val="F8FBFF"/>
          </a:solidFill>
          <a:ln>
            <a:solidFill>
              <a:srgbClr val="BDD7F4"/>
            </a:solidFill>
          </a:ln>
        </p:spPr>
        <p:txBody>
          <a:bodyPr wrap="square" lIns="2540" tIns="2540" rIns="2540" bIns="2540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간소 구현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계정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관리자 계정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완료 상태만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3~5초 주기 조회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일반/관리자 2권한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732520" y="1536192"/>
            <a:ext cx="2743200" cy="2377440"/>
          </a:xfrm>
          <a:prstGeom prst="rect">
            <a:avLst/>
          </a:prstGeom>
          <a:solidFill>
            <a:srgbClr val="F9FAFB"/>
          </a:solidFill>
          <a:ln>
            <a:solidFill>
              <a:srgbClr val="D8E3F0"/>
            </a:solidFill>
          </a:ln>
        </p:spPr>
        <p:txBody>
          <a:bodyPr wrap="square" lIns="2540" tIns="2540" rIns="2540" bIns="2540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모의 유지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 AI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KPI/차트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통계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알림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매출 분석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5166360"/>
            <a:ext cx="4983480" cy="804672"/>
          </a:xfrm>
          <a:prstGeom prst="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제외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소셜 로그인 · 실제 PG · SMS/카카오 알림 · 다지점/2F 베이 · 복잡 권한 · 감사 로그 · 대규모 트래픽</a:t>
            </a:r>
            <a:endParaRPr lang="en-US" sz="1120" dirty="0"/>
          </a:p>
        </p:txBody>
      </p:sp>
      <p:sp>
        <p:nvSpPr>
          <p:cNvPr id="10" name="Text 8"/>
          <p:cNvSpPr/>
          <p:nvPr/>
        </p:nvSpPr>
        <p:spPr>
          <a:xfrm>
            <a:off x="6492240" y="5166360"/>
            <a:ext cx="4983480" cy="804672"/>
          </a:xfrm>
          <a:prstGeom prst="rect">
            <a:avLst/>
          </a:prstGeom>
          <a:solidFill>
            <a:srgbClr val="FFF1F2"/>
          </a:solidFill>
          <a:ln>
            <a:solidFill>
              <a:srgbClr val="FECACA"/>
            </a:solidFill>
          </a:ln>
        </p:spPr>
        <p:txBody>
          <a:bodyPr wrap="square" lIns="2286" tIns="2286" rIns="2286" bIns="2286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E05C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정책상 미제공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b="1" dirty="0">
                <a:solidFill>
                  <a:srgbClr val="E05C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등록·변경·취소·대기·예약 상태·예약 API·예약 데이터는 만들지 않습니다.</a:t>
            </a:r>
            <a:endParaRPr lang="en-US" sz="1120" dirty="0"/>
          </a:p>
        </p:txBody>
      </p:sp>
      <p:sp>
        <p:nvSpPr>
          <p:cNvPr id="11" name="Text 9"/>
          <p:cNvSpPr/>
          <p:nvPr/>
        </p:nvSpPr>
        <p:spPr>
          <a:xfrm>
            <a:off x="502920" y="65105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영차 1차 POC 범위 공유  |  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시나리오: 앱 ↔ 관리자 베이 상태 동기화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768096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 즉시 결제하고, 관리자는 같은 서버 데이터를 통해 사용 상태를 확인합니다.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966960" y="384048"/>
            <a:ext cx="1691640" cy="237744"/>
          </a:xfrm>
          <a:prstGeom prst="rect">
            <a:avLst/>
          </a:prstGeom>
          <a:solidFill>
            <a:srgbClr val="EAF3FF"/>
          </a:solidFill>
          <a:ln>
            <a:solidFill>
              <a:srgbClr val="EAF3FF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YOUNGCHA POC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" y="1234440"/>
            <a:ext cx="1280160" cy="402336"/>
          </a:xfrm>
          <a:prstGeom prst="rect">
            <a:avLst/>
          </a:prstGeom>
          <a:solidFill>
            <a:srgbClr val="0B50D0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앱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944368"/>
            <a:ext cx="1280160" cy="402336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서버·DB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4645152"/>
            <a:ext cx="1280160" cy="402336"/>
          </a:xfrm>
          <a:prstGeom prst="rect">
            <a:avLst/>
          </a:prstGeom>
          <a:solidFill>
            <a:srgbClr val="06A85B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31720" y="114300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베이 선택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69080" y="114300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결제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06440" y="114300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세차 진행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543800" y="114300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연장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281160" y="114300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258568" y="2761488"/>
            <a:ext cx="1371600" cy="777240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 조회</a:t>
            </a:r>
            <a:endParaRPr lang="en-US" sz="940" dirty="0"/>
          </a:p>
        </p:txBody>
      </p:sp>
      <p:sp>
        <p:nvSpPr>
          <p:cNvPr id="14" name="Text 12"/>
          <p:cNvSpPr/>
          <p:nvPr/>
        </p:nvSpPr>
        <p:spPr>
          <a:xfrm>
            <a:off x="3995928" y="2761488"/>
            <a:ext cx="1371600" cy="777240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결제·세션 생성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 변경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5733288" y="2761488"/>
            <a:ext cx="1371600" cy="777240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시작/종료 예정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 저장</a:t>
            </a:r>
            <a:endParaRPr lang="en-US" sz="940" dirty="0"/>
          </a:p>
        </p:txBody>
      </p:sp>
      <p:sp>
        <p:nvSpPr>
          <p:cNvPr id="16" name="Text 14"/>
          <p:cNvSpPr/>
          <p:nvPr/>
        </p:nvSpPr>
        <p:spPr>
          <a:xfrm>
            <a:off x="7470648" y="2761488"/>
            <a:ext cx="1371600" cy="777240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예정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 변경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9208008" y="2761488"/>
            <a:ext cx="1371600" cy="777240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완료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가능 변경</a:t>
            </a:r>
            <a:endParaRPr lang="en-US" sz="940" dirty="0"/>
          </a:p>
        </p:txBody>
      </p:sp>
      <p:sp>
        <p:nvSpPr>
          <p:cNvPr id="18" name="Text 16"/>
          <p:cNvSpPr/>
          <p:nvPr/>
        </p:nvSpPr>
        <p:spPr>
          <a:xfrm>
            <a:off x="2313432" y="4553712"/>
            <a:ext cx="1298448" cy="658368"/>
          </a:xfrm>
          <a:prstGeom prst="rect">
            <a:avLst/>
          </a:prstGeom>
          <a:solidFill>
            <a:srgbClr val="FFFFFF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6개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 표시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4050792" y="4553712"/>
            <a:ext cx="1298448" cy="658368"/>
          </a:xfrm>
          <a:prstGeom prst="rect">
            <a:avLst/>
          </a:prstGeom>
          <a:solidFill>
            <a:srgbClr val="FFFFFF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베이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788152" y="4553712"/>
            <a:ext cx="1298448" cy="658368"/>
          </a:xfrm>
          <a:prstGeom prst="rect">
            <a:avLst/>
          </a:prstGeom>
          <a:solidFill>
            <a:srgbClr val="FFFFFF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525512" y="4553712"/>
            <a:ext cx="1298448" cy="658368"/>
          </a:xfrm>
          <a:prstGeom prst="rect">
            <a:avLst/>
          </a:prstGeom>
          <a:solidFill>
            <a:srgbClr val="FFFFFF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상태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9262872" y="4553712"/>
            <a:ext cx="1298448" cy="658368"/>
          </a:xfrm>
          <a:prstGeom prst="rect">
            <a:avLst/>
          </a:prstGeom>
          <a:solidFill>
            <a:srgbClr val="FFFFFF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가능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06A8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3630168" y="1426464"/>
            <a:ext cx="256032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85032" y="3154680"/>
            <a:ext cx="219456" cy="0"/>
          </a:xfrm>
          <a:prstGeom prst="line">
            <a:avLst/>
          </a:prstGeom>
          <a:noFill/>
          <a:ln w="12700">
            <a:solidFill>
              <a:srgbClr val="AAB3C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630168" y="4882896"/>
            <a:ext cx="256032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367528" y="1426464"/>
            <a:ext cx="256032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422392" y="3154680"/>
            <a:ext cx="219456" cy="0"/>
          </a:xfrm>
          <a:prstGeom prst="line">
            <a:avLst/>
          </a:prstGeom>
          <a:noFill/>
          <a:ln w="12700">
            <a:solidFill>
              <a:srgbClr val="AAB3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367528" y="4882896"/>
            <a:ext cx="256032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104888" y="1426464"/>
            <a:ext cx="256032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159752" y="3154680"/>
            <a:ext cx="219456" cy="0"/>
          </a:xfrm>
          <a:prstGeom prst="line">
            <a:avLst/>
          </a:prstGeom>
          <a:noFill/>
          <a:ln w="12700">
            <a:solidFill>
              <a:srgbClr val="AAB3C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104888" y="4882896"/>
            <a:ext cx="256032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842248" y="1426464"/>
            <a:ext cx="256032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897112" y="3154680"/>
            <a:ext cx="219456" cy="0"/>
          </a:xfrm>
          <a:prstGeom prst="line">
            <a:avLst/>
          </a:prstGeom>
          <a:noFill/>
          <a:ln w="12700">
            <a:solidFill>
              <a:srgbClr val="AAB3C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842248" y="4882896"/>
            <a:ext cx="256032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560320" y="1783080"/>
            <a:ext cx="0" cy="749808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3584448"/>
            <a:ext cx="0" cy="749808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  <a:headEnd type="none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2240280" y="234086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475569"/>
                </a:solidFill>
              </a:rPr>
              <a:t>API 조회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4343400" y="1783080"/>
            <a:ext cx="0" cy="749808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343400" y="3584448"/>
            <a:ext cx="0" cy="749808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4023360" y="234086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475569"/>
                </a:solidFill>
              </a:rPr>
              <a:t>상태 반영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9555480" y="1783080"/>
            <a:ext cx="0" cy="749808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555480" y="3584448"/>
            <a:ext cx="0" cy="749808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  <a:headEnd type="none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9235440" y="234086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475569"/>
                </a:solidFill>
              </a:rPr>
              <a:t>폴링 조회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60120" y="5742432"/>
            <a:ext cx="10287000" cy="411480"/>
          </a:xfrm>
          <a:prstGeom prst="rect">
            <a:avLst/>
          </a:prstGeom>
          <a:solidFill>
            <a:srgbClr val="EAF3FF"/>
          </a:solidFill>
          <a:ln>
            <a:solidFill>
              <a:srgbClr val="EAF3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타이머 기준: 서버에는 남은 시간을 매초 저장하지 않고, 시작 시각과 종료 예정 시각만 저장합니다.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502920" y="65105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영차 1차 POC 범위 공유  |  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진행 방식과 검수 기준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768096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하나로 개발 범위와 검수를 동시에 관리하고, 4단계로 시연 가능한 흐름을 완성합니다.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966960" y="384048"/>
            <a:ext cx="1691640" cy="237744"/>
          </a:xfrm>
          <a:prstGeom prst="rect">
            <a:avLst/>
          </a:prstGeom>
          <a:solidFill>
            <a:srgbClr val="EAF3FF"/>
          </a:solidFill>
          <a:ln>
            <a:solidFill>
              <a:srgbClr val="EAF3FF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YOUNGCHA POC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" y="1371600"/>
            <a:ext cx="685800" cy="384048"/>
          </a:xfrm>
          <a:prstGeom prst="rect">
            <a:avLst/>
          </a:prstGeom>
          <a:solidFill>
            <a:srgbClr val="0B50D0"/>
          </a:solidFill>
          <a:ln>
            <a:solidFill>
              <a:srgbClr val="0B50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901952"/>
            <a:ext cx="224028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032" tIns="2032" rIns="2032" bIns="2032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 상태 단일화</a:t>
            </a:r>
            <a:endParaRPr lang="en-US" sz="1080" dirty="0"/>
          </a:p>
          <a:p>
            <a:pPr algn="l" indent="0" marL="0">
              <a:buNone/>
            </a:pPr>
            <a:endParaRPr lang="en-US" sz="1080" dirty="0"/>
          </a:p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베이를 서버 데이터로 통일</a:t>
            </a:r>
            <a:endParaRPr lang="en-US" sz="1080" dirty="0"/>
          </a:p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앱·관리자가 동일 API 조회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3017520" y="2560320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74720" y="1371600"/>
            <a:ext cx="685800" cy="384048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474720" y="1901952"/>
            <a:ext cx="224028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032" tIns="2032" rIns="2032" bIns="2032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결제와 세션 시작</a:t>
            </a:r>
            <a:endParaRPr lang="en-US" sz="1080" dirty="0"/>
          </a:p>
          <a:p>
            <a:pPr algn="l" indent="0" marL="0">
              <a:buNone/>
            </a:pPr>
            <a:endParaRPr lang="en-US" sz="1080" dirty="0"/>
          </a:p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완료 상태 생성</a:t>
            </a:r>
            <a:endParaRPr lang="en-US" sz="1080" dirty="0"/>
          </a:p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생성 + 사용 중 변경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5806440" y="2560320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63640" y="1371600"/>
            <a:ext cx="685800" cy="384048"/>
          </a:xfrm>
          <a:prstGeom prst="rect">
            <a:avLst/>
          </a:prstGeom>
          <a:solidFill>
            <a:srgbClr val="06A85B"/>
          </a:solidFill>
          <a:ln>
            <a:solidFill>
              <a:srgbClr val="06A85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63640" y="1901952"/>
            <a:ext cx="224028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032" tIns="2032" rIns="2032" bIns="2032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베이 복구</a:t>
            </a:r>
            <a:endParaRPr lang="en-US" sz="1080" dirty="0"/>
          </a:p>
          <a:p>
            <a:pPr algn="l" indent="0" marL="0">
              <a:buNone/>
            </a:pPr>
            <a:endParaRPr lang="en-US" sz="1080" dirty="0"/>
          </a:p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완료 또는 관리자 이용 종료</a:t>
            </a:r>
            <a:endParaRPr lang="en-US" sz="1080" dirty="0"/>
          </a:p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가능 상태로 복귀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8595360" y="2560320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052560" y="1371600"/>
            <a:ext cx="685800" cy="384048"/>
          </a:xfrm>
          <a:prstGeom prst="rect">
            <a:avLst/>
          </a:prstGeom>
          <a:solidFill>
            <a:srgbClr val="EC8913"/>
          </a:solidFill>
          <a:ln>
            <a:solidFill>
              <a:srgbClr val="EC891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901952"/>
            <a:ext cx="224028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032" tIns="2032" rIns="2032" bIns="2032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안정화</a:t>
            </a:r>
            <a:endParaRPr lang="en-US" sz="1080" dirty="0"/>
          </a:p>
          <a:p>
            <a:pPr algn="l" indent="0" marL="0">
              <a:buNone/>
            </a:pPr>
            <a:endParaRPr lang="en-US" sz="1080" dirty="0"/>
          </a:p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새로고침·재접속 복원</a:t>
            </a:r>
            <a:endParaRPr lang="en-US" sz="1080" dirty="0"/>
          </a:p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초기화 + 3회 반복 검수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85800" y="4160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50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기준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526280"/>
            <a:ext cx="50749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8E3F0"/>
            </a:solidFill>
          </a:ln>
        </p:spPr>
        <p:txBody>
          <a:bodyPr wrap="square" lIns="2032" tIns="2032" rIns="2032" bIns="2032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핵심 체크리스트로 검수</a:t>
            </a:r>
            <a:endParaRPr lang="en-US" sz="1120" dirty="0"/>
          </a:p>
          <a:p>
            <a:pPr algn="l" indent="0" marL="0">
              <a:buNone/>
            </a:pPr>
            <a:r>
              <a:rPr lang="en-US" sz="1120" b="1" dirty="0">
                <a:solidFill>
                  <a:srgbClr val="172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6개 베이 표시 · 사용 가능 베이만 결제 · 결제 후 사용 중 반영 · 중복 사용 방지 · 타이머 재접속 유지 · 완료 후 사용 가능 복귀 · 예약 기능 미노출</a:t>
            </a:r>
            <a:endParaRPr lang="en-US" sz="1120" dirty="0"/>
          </a:p>
        </p:txBody>
      </p:sp>
      <p:sp>
        <p:nvSpPr>
          <p:cNvPr id="18" name="Text 16"/>
          <p:cNvSpPr/>
          <p:nvPr/>
        </p:nvSpPr>
        <p:spPr>
          <a:xfrm>
            <a:off x="6400800" y="4160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 전 확정 권장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0" y="4526280"/>
            <a:ext cx="4846320" cy="1051560"/>
          </a:xfrm>
          <a:prstGeom prst="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txBody>
          <a:bodyPr wrap="square" lIns="2032" tIns="2032" rIns="2032" bIns="2032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계정 2개</a:t>
            </a:r>
            <a:endParaRPr lang="en-US" sz="1120" dirty="0"/>
          </a:p>
          <a:p>
            <a:pPr algn="l" indent="0" marL="0">
              <a:buNone/>
            </a:pPr>
            <a:r>
              <a:rPr lang="en-US" sz="112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 초기 상태: 1~5 사용 가능 / 6 점검 중</a:t>
            </a:r>
            <a:endParaRPr lang="en-US" sz="1120" dirty="0"/>
          </a:p>
          <a:p>
            <a:pPr algn="l" indent="0" marL="0">
              <a:buNone/>
            </a:pPr>
            <a:r>
              <a:rPr lang="en-US" sz="112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시간 15분, 연장 5분</a:t>
            </a:r>
            <a:endParaRPr lang="en-US" sz="1120" dirty="0"/>
          </a:p>
          <a:p>
            <a:pPr algn="l" indent="0" marL="0">
              <a:buNone/>
            </a:pPr>
            <a:r>
              <a:rPr lang="en-US" sz="1120" b="1" dirty="0">
                <a:solidFill>
                  <a:srgbClr val="EC89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화면에 POC 초기화 버튼</a:t>
            </a:r>
            <a:endParaRPr lang="en-US" sz="1120" dirty="0"/>
          </a:p>
        </p:txBody>
      </p:sp>
      <p:sp>
        <p:nvSpPr>
          <p:cNvPr id="20" name="Text 18"/>
          <p:cNvSpPr/>
          <p:nvPr/>
        </p:nvSpPr>
        <p:spPr>
          <a:xfrm>
            <a:off x="685800" y="5897880"/>
            <a:ext cx="10561320" cy="384048"/>
          </a:xfrm>
          <a:prstGeom prst="rect">
            <a:avLst/>
          </a:prstGeom>
          <a:solidFill>
            <a:srgbClr val="172B53"/>
          </a:solidFill>
          <a:ln>
            <a:solidFill>
              <a:srgbClr val="172B5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후 진행안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문서를 v1.0으로 고정 → 개발자 구현 확인 메모 작성 → 1단계부터 순차 개발 착수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65105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영차 1차 POC 범위 공유  |  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AIMWID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영차 1차 POC 범위 공유</dc:title>
  <dc:subject>영차 1차 POC 범위 및 구현·검수 정의서 공유</dc:subject>
  <dc:creator>OpenAI</dc:creator>
  <cp:lastModifiedBy>OpenAI</cp:lastModifiedBy>
  <cp:revision>1</cp:revision>
  <dcterms:created xsi:type="dcterms:W3CDTF">2026-07-15T02:40:21Z</dcterms:created>
  <dcterms:modified xsi:type="dcterms:W3CDTF">2026-07-15T02:40:21Z</dcterms:modified>
</cp:coreProperties>
</file>